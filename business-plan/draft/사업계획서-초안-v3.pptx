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B4746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3B4746"/>
                </a:solidFill>
                <a:latin typeface="Malgun Gothic"/>
              </a:rPr>
              <a:t>매출 (억원)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spPr>
            <a:solidFill>
              <a:srgbClr val="1D5C5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E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2026(E)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3.05</c:v>
                </c:pt>
                <c:pt idx="1">
                  <c:v>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E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746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76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6개 시군</c:v>
                </c:pt>
              </c:strCache>
            </c:strRef>
          </c:tx>
          <c:spPr>
            <a:solidFill>
              <a:srgbClr val="1D5C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E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옹벽·호안블록</c:v>
                  </c:pt>
                  <c:pt idx="1">
                    <c:v>배수로</c:v>
                  </c:pt>
                  <c:pt idx="2">
                    <c:v>보차도블록</c:v>
                  </c:pt>
                  <c:pt idx="3">
                    <c:v>맨홀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87.4</c:v>
                </c:pt>
                <c:pt idx="1">
                  <c:v>46.1</c:v>
                </c:pt>
                <c:pt idx="2">
                  <c:v>24.8</c:v>
                </c:pt>
                <c:pt idx="3">
                  <c:v>19.2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전북 14개 시군</c:v>
                </c:pt>
              </c:strCache>
            </c:strRef>
          </c:tx>
          <c:spPr>
            <a:solidFill>
              <a:srgbClr val="9FB3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E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옹벽·호안블록</c:v>
                  </c:pt>
                  <c:pt idx="1">
                    <c:v>배수로</c:v>
                  </c:pt>
                  <c:pt idx="2">
                    <c:v>보차도블록</c:v>
                  </c:pt>
                  <c:pt idx="3">
                    <c:v>맨홀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223.1</c:v>
                </c:pt>
                <c:pt idx="1">
                  <c:v>133.5</c:v>
                </c:pt>
                <c:pt idx="2">
                  <c:v>65.4</c:v>
                </c:pt>
                <c:pt idx="3">
                  <c:v>42.5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2E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746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76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746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블록</c:v>
                </c:pt>
              </c:strCache>
            </c:strRef>
          </c:tx>
          <c:spPr>
            <a:solidFill>
              <a:srgbClr val="1D5C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부안군</c:v>
                  </c:pt>
                  <c:pt idx="1">
                    <c:v>정읍시</c:v>
                  </c:pt>
                  <c:pt idx="2">
                    <c:v>고창군</c:v>
                  </c:pt>
                  <c:pt idx="3">
                    <c:v>순창군</c:v>
                  </c:pt>
                  <c:pt idx="4">
                    <c:v>임실군</c:v>
                  </c:pt>
                  <c:pt idx="5">
                    <c:v>남원시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18.8</c:v>
                </c:pt>
                <c:pt idx="1">
                  <c:v>28</c:v>
                </c:pt>
                <c:pt idx="2">
                  <c:v>17.2</c:v>
                </c:pt>
                <c:pt idx="3">
                  <c:v>22</c:v>
                </c:pt>
                <c:pt idx="4">
                  <c:v>16.6</c:v>
                </c:pt>
                <c:pt idx="5">
                  <c:v>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배수로</c:v>
                </c:pt>
              </c:strCache>
            </c:strRef>
          </c:tx>
          <c:spPr>
            <a:solidFill>
              <a:srgbClr val="5E8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부안군</c:v>
                  </c:pt>
                  <c:pt idx="1">
                    <c:v>정읍시</c:v>
                  </c:pt>
                  <c:pt idx="2">
                    <c:v>고창군</c:v>
                  </c:pt>
                  <c:pt idx="3">
                    <c:v>순창군</c:v>
                  </c:pt>
                  <c:pt idx="4">
                    <c:v>임실군</c:v>
                  </c:pt>
                  <c:pt idx="5">
                    <c:v>남원시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15.4</c:v>
                </c:pt>
                <c:pt idx="1">
                  <c:v>7.8</c:v>
                </c:pt>
                <c:pt idx="2">
                  <c:v>14.7</c:v>
                </c:pt>
                <c:pt idx="3">
                  <c:v>2.8</c:v>
                </c:pt>
                <c:pt idx="4">
                  <c:v>4.3</c:v>
                </c:pt>
                <c:pt idx="5">
                  <c:v>1.1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맨홀</c:v>
                </c:pt>
              </c:strCache>
            </c:strRef>
          </c:tx>
          <c:spPr>
            <a:solidFill>
              <a:srgbClr val="C04D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부안군</c:v>
                  </c:pt>
                  <c:pt idx="1">
                    <c:v>정읍시</c:v>
                  </c:pt>
                  <c:pt idx="2">
                    <c:v>고창군</c:v>
                  </c:pt>
                  <c:pt idx="3">
                    <c:v>순창군</c:v>
                  </c:pt>
                  <c:pt idx="4">
                    <c:v>임실군</c:v>
                  </c:pt>
                  <c:pt idx="5">
                    <c:v>남원시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4.4</c:v>
                </c:pt>
                <c:pt idx="1">
                  <c:v>0.9</c:v>
                </c:pt>
                <c:pt idx="2">
                  <c:v>3.4</c:v>
                </c:pt>
                <c:pt idx="3">
                  <c:v>3.6</c:v>
                </c:pt>
                <c:pt idx="4">
                  <c:v>2.5</c:v>
                </c:pt>
                <c:pt idx="5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746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76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746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B4746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3B4746"/>
                </a:solidFill>
                <a:latin typeface="Malgun Gothic"/>
              </a:rPr>
              <a:t>매출 (억원)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민간</c:v>
                </c:pt>
              </c:strCache>
            </c:strRef>
          </c:tx>
          <c:spPr>
            <a:solidFill>
              <a:srgbClr val="7FA7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2025</c:v>
                  </c:pt>
                  <c:pt idx="1">
                    <c:v>2026(E)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3.05</c:v>
                </c:pt>
                <c:pt idx="1">
                  <c:v>5</c:v>
                </c:pt>
                <c:pt idx="2">
                  <c:v>6</c:v>
                </c:pt>
                <c:pt idx="3">
                  <c:v>10</c:v>
                </c:pt>
                <c:pt idx="4">
                  <c:v>15</c:v>
                </c:pt>
                <c:pt idx="5">
                  <c:v>19</c:v>
                </c:pt>
                <c:pt idx="6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관급</c:v>
                </c:pt>
              </c:strCache>
            </c:strRef>
          </c:tx>
          <c:spPr>
            <a:solidFill>
              <a:srgbClr val="1D5C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2025</c:v>
                  </c:pt>
                  <c:pt idx="1">
                    <c:v>2026(E)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12</c:v>
                </c:pt>
                <c:pt idx="5">
                  <c:v>19</c:v>
                </c:pt>
                <c:pt idx="6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746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76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746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[확인] 제출 시점의 버전 표기와 날짜를 갱신할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요약. 관급 수치는 나라장터 종합쇼핑몰 납품요구 내역 2025(최종 변경차수 기준). [확인] 이익률 15%는 2025년 결산 원가율로 확정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[확인] 대표 연령(청년 우대), 직원 3명의 역할, 임차 여부·조건, 2026년 8월까지 실적.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심사역 예상 질문: 2년에 세 번 이전하는 이유. 답: 임차 소규모 → 임차 확장 → 자가 정착. [확인] 현 광주 공장 임차 만료 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[확인] 미수주 사례 2~3건(품목·수량·시기). 병목이 양생·야적 면적이 맞는지. 현재 생산능력 대비 출하가 낮은 이유를 심사역에게 설명할 준비.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취소·감량 변경분을 제외한 최종 차수 기준. 전행 합산 시 6개군 맨홀 23.6억, 배수로 55.8억으로 커지지만 심사 반박 가능성이 있어 작은 쪽을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[확인] 전북콘크리트공업협동조합 가입 가능 여부(전북 블록 관급 1위 31.9억, 조합 통한 판로).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[확인] 고창 IC까지 거리, 광주 대비 토지 단가 비율, 고창군 기업유치 보조금·산단 임대용지 문의 결과.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[확인] 부지 위치·면적, 설비 견적 내역(배처·성형·몰드·양생·호이스트 금액), 2028년 인원 계획. 이론 능력 80억은 관급 단가 기준 가정.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[확인] 민간 198억(한국물가협회, 기존 계획서) 출처 재확인. 보강토블록 4,000장/일의 민간 판로 근거(관급은 전북 전체 4.9억뿐).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산식: 품목별 1일 능력 × 단가(가정) × 264일 × 배정률. [확인] 원형맨홀 1조 60만원, 집수정 20만원, 인터로킹 2.2만원/㎡, 보강토 7천원, 식생 3만원, 측구 8만원 가정을 실제 단가로 교체.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보조금 5억 + 토지 임대 6억이면 차입 48억 → 이익률 15%에서 필요 매출 34억. [확인] 전북도·고창군 보조금, 산단 임대용지, 설비사 리스 조건, 중진공 사전상담에서 현실적 승인 범위.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[확인] 2025년 결산 매출원가율·영업이익률. 기존 청년전용창업자금 1.5억 상환 조건(2029~)도 표에 반영. 실제 금리·거치 조건은 공고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[확인] 현재 직원 3명의 역할과 2028·2030 인원 계획.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 전 [확인] 항목을 모두 채우고, 슬라이드 노트의 확인 사항을 정리할 것. 관급 자료 출처: 나라장터 종합쇼핑몰 납품요구 내역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중소벤처기업진흥공단 창업기업지원자금 · 시설자금 신청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고창 신공장 건립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사업계획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콘크리트 2차제품 제조 · 맨홀 · 집수정 · 옹벽블록 · 인터로킹블록 · 수로관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2B3A3D"/>
          </a:solidFill>
          <a:ln w="12700">
            <a:solidFill>
              <a:srgbClr val="2B3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68억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005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소요자금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0" y="352044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2B3A3D"/>
          </a:solidFill>
          <a:ln w="12700">
            <a:solidFill>
              <a:srgbClr val="2B3A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6324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177.5억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4005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50km 관급 시장 (2025)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0" y="352044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2B3A3D"/>
          </a:solidFill>
          <a:ln w="12700">
            <a:solidFill>
              <a:srgbClr val="2B3A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4068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46억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4005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2031년 매출 목표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 ·  2026. 09  ·  초안 v3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5억 매출은 시장이 아니라 공장의 한계다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C04D18"/>
          </a:solidFill>
          <a:ln w="12700">
            <a:solidFill>
              <a:srgbClr val="C04D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261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5억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755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예상 매출 (25년 3.05억)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1887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0DFD4"/>
          </a:solidFill>
          <a:ln w="12700">
            <a:solidFill>
              <a:srgbClr val="F0DF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1261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2,000만원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1755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확정 불가로 놓치는 주문 (연 2.4억)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1261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177.5억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755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고창 반경 50km 6개 시군 관급 발주 (2025)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261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92~98%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755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관급을 전북 소재 업체가 공급하는 비율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37744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2834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임차 공장이라 양생·야적 면적을 늘릴 수 없음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재고생산 불가 → 납기 확정 불가 → 월 2,000만원 미수주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 소재 + KS·MAS 미등록 → 전북 관급 0원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37744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D6E4E1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2834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고창군 자가 공장 68억 (토지 6 · 건물 20 · 설비 42)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품목 재고생산, KS·직접생산확인·MAS 등록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맨홀(현지 공백)·인터로킹(현지 생산자 0)부터 진입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237744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834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2028년 15억 → 2031년 46억 (관급 24 · 민간 22)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2031년 가동률 57%, 관급 점유 13.5%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이익률 15% 기준 차입 48~59억 상환 가능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개요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창업 20개월, 매출 3.05억 → 5억, 거래처 7개사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0233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주식회사 현담토목 (2025.01 설립, 2026.01 사명 변경)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설립일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 1월 2일 · 업력 1년 8개월 · 창업기업 요건 충족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광주광역시 광산구 (IC 5분, 철골 조립식 임차 공장)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업종 · 제품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콘크리트 제품 제조 · 맨홀, 집수정, 자중식 옹벽블록, 수로관, 기초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 305백만원 / 2026년 500백만원 예상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형틀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수로관 50 · 옹벽블록 28 · 사각맨홀 30 · 원형맨홀 3 (80% 운용)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KS 미보유 → 2027년 취득 계획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정책자금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중진공 청년전용창업자금 150백만원 (2026년 초, 정상 상환 중)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188720"/>
            <a:ext cx="2834640" cy="3246120"/>
          </a:xfrm>
          <a:prstGeom prst="roundRect">
            <a:avLst>
              <a:gd name="adj" fmla="val 1935"/>
            </a:avLst>
          </a:prstGeom>
          <a:solidFill>
            <a:srgbClr val="D6E4E1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대표자 역량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64592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콘크리트 구조물 제조업 경력 12년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생산관리팀장 4년 (2014~2018)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품질관리팀장 4년 (2020~2024), 영업팀장 겸임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품질관리담당자 자격 (한국표준협회, 2020) → KS 공장심사·MAS 등록을 직접 준비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회계·생산·출고·영업 직접 운영 → 원가와 현장 요구를 동시에 파악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만 39세 이하 여부 </a:t>
            </a:r>
            <a:pPr indent="0" marL="0">
              <a:buNone/>
            </a:pPr>
            <a:r>
              <a:rPr lang="en-US" sz="90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[확인]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이력과 이번 이전의 의미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임차 소규모 → 임차 확장 → 자가 공장 정착. 마지막 이전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4572000" cy="0"/>
          </a:xfrm>
          <a:prstGeom prst="line">
            <a:avLst/>
          </a:prstGeom>
          <a:noFill/>
          <a:ln w="25400">
            <a:solidFill>
              <a:srgbClr val="CBD3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737360"/>
            <a:ext cx="274320" cy="274320"/>
          </a:xfrm>
          <a:prstGeom prst="ellipse">
            <a:avLst/>
          </a:prstGeom>
          <a:solidFill>
            <a:srgbClr val="1D5C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순창 창업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임차 공장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수로관·옹벽블록 시작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16352" y="1737360"/>
            <a:ext cx="274320" cy="274320"/>
          </a:xfrm>
          <a:prstGeom prst="ellipse">
            <a:avLst/>
          </a:prstGeom>
          <a:solidFill>
            <a:srgbClr val="1D5C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 광산구 이전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 밀집지, 형틀 확충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청년전용창업자금 1.5억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28032" y="1737360"/>
            <a:ext cx="274320" cy="274320"/>
          </a:xfrm>
          <a:prstGeom prst="ellipse">
            <a:avLst/>
          </a:prstGeom>
          <a:solidFill>
            <a:srgbClr val="C04D1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2028.01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고창 자가 공장 가동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양생·야적 면적 확보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KS·MAS 등록, 관급 진입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5577840" cy="1188720"/>
          </a:xfrm>
          <a:prstGeom prst="roundRect">
            <a:avLst>
              <a:gd name="adj" fmla="val 4615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40156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순창·광주 모두 임차·소규모라 양생장·야적장을 늘릴 수 없었음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 초 형틀을 늘렸으나 병목은 형틀이 아니라 면적임을 8개월 만에 확인 → 시설자금 신청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계획(2027 KS 취득, 나라장터 등록)은 그대로, 그 실행 장소가 신공장</a:t>
            </a:r>
            <a:endParaRPr lang="en-US" sz="10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309360" y="1188720"/>
          <a:ext cx="2377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사업장의 한계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수는 있는데 '언제 준다'를 못 한다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8229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(1일 생산능력)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월(22일)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원형맨홀 1호 (하부·연직·상부 1조)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사각집수정 600×600×H600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사각집수정 300×400×H600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사각집수정 300×400×H900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사각집수정 1000×1000×H1000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자중식 옹벽블록 1200×600×H600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32EA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704EA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200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형틀의 80% 운용 · 월 22일 근무 기준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37760" y="1188720"/>
            <a:ext cx="3749040" cy="987552"/>
          </a:xfrm>
          <a:prstGeom prst="roundRect">
            <a:avLst>
              <a:gd name="adj" fmla="val 5556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0" y="1280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병목은 성형이 아니라 면적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15727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임차 공장이라 증기양생 공간과 야적장을 늘릴 수 없음 → 재고생산 불가 → 주문 후 생산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37760" y="2286000"/>
            <a:ext cx="3749040" cy="987552"/>
          </a:xfrm>
          <a:prstGeom prst="roundRect">
            <a:avLst>
              <a:gd name="adj" fmla="val 5556"/>
            </a:avLst>
          </a:prstGeom>
          <a:solidFill>
            <a:srgbClr val="F0DFD4"/>
          </a:solidFill>
          <a:ln w="12700">
            <a:solidFill>
              <a:srgbClr val="F0DFD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20640" y="2377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확정 불가 → 월 2,000만원 미수주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120640" y="2670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2.4억, 현재 매출의 48%. 경쟁사는 재고생산 일 50EA·납기 7일, 우리는 일 30EA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937760" y="3383280"/>
            <a:ext cx="3749040" cy="987552"/>
          </a:xfrm>
          <a:prstGeom prst="roundRect">
            <a:avLst>
              <a:gd name="adj" fmla="val 5556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2064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관급 시장 0원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37673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 소재 + KS·MAS 미등록. 전북 관급 465억의 92~98%는 전북 소재 업체가 공급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657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생산능력을 매출로 환산하면 연 10억 안팎인데 실제 출하는 5억 → 심사역이 계산기로 확인할 숫자. 병목이 면적이 맞는지 </a:t>
            </a:r>
            <a:pPr indent="0" marL="0">
              <a:buNone/>
            </a:pPr>
            <a:r>
              <a:rPr lang="en-US" sz="90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[확인]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관급 시장 규모 (2025년 나라장터 실측)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14개 시군 465억, 고창 반경 50km 6개 시군 177.5억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4300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14300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12161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465억 / 177.5억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709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14개 시군 / 6개 시군 발주액 (블록·배수로·맨홀)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224028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0DFD4"/>
          </a:solidFill>
          <a:ln w="12700">
            <a:solidFill>
              <a:srgbClr val="F0DFD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89320" y="2313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92~98%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28072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소재 업체 점유율 (블록 92 · 맨홀 95 · 배수로 98) → 사실상 도내 업체 시장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33756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89320" y="3410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 99~100%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39044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다수공급자계약 비중 → KS·직접생산확인·나라장터 MAS 등록이 전제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나라장터 종합쇼핑몰 납품요구 내역 2025.01~12, 수요기관 전북 14개 시군, 최종 변경차수 기준 집계. 6개 시군 = 고창·부안·정읍·순창·남원·임실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시군별 발주 구조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고창·부안·정읍 서해안 축 3곳만으로 110.6억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4300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143000"/>
          <a:ext cx="26517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02920"/>
                <a:gridCol w="548640"/>
                <a:gridCol w="457200"/>
                <a:gridCol w="502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배수로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맨홀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부안군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정읍시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35.3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순창군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임실군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남원시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112.2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5C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177.5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03504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억원. 신공장 반경 30km 안의 고창·부안·정읍이 62%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권역(60~80km): 완주군 블록 61.7억, 김제시 배수로 39.0억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나라장터 종합쇼핑몰 납품요구 내역 2025, 최종 변경차수 기준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기회 ① 맨홀 · ② 인터로킹블록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 공급이 비어 있는 두 품목부터 들어간다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맨홀 · 6개 시군 19.2억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82296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고창에서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납품(억)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재건콘크리트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75km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서원산업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50km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팔마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80km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50km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진성이앤씨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45km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상진·전일·동서 (부안 3사)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30km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태산산업 · 오투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 · 정읍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0~30km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65760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F0DFD4"/>
          </a:solidFill>
          <a:ln w="12700">
            <a:solidFill>
              <a:srgbClr val="F0DF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7033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63%</a:t>
            </a:r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(약 12억)가 50km 밖 익산·김제·완주에서 공급. 가장 무거운 품목이라 운반비 격차가 가장 큼. 고창·부안 현지 4개사 합계 4억뿐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인터로킹블록 · 6개 시군 24.8억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463040"/>
          <a:ext cx="3749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전북 인터로킹 생산자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한스 · 로드텍 · 엔씨원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신흥콘크리트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강남기업사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대명산업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나대영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4D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 · 부안 · 정읍 · 순창 · 남원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4D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937760" y="365760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20640" y="3703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 공급이 없으니 경기 화성 업체(이노블록)가 6개 시군에 4.9억을 납품 중. 신공장 블록 라인(1일 25,000장)이 서남권 최초 인터로킹 생산 거점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나라장터 2025 납품요구 내역(업체 소재지는 계약시점 기준), 거리는 도로 기준 대략치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품목별 경쟁 구조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시장(옹벽·호안블록)은 경쟁이 있고, 배수로는 현지 밀집 → 후순위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옹벽·호안블록 · 6개군 87.4억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2651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02920"/>
                <a:gridCol w="457200"/>
                <a:gridCol w="4572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무일콘크리트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정읍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해리콘크리트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미성산업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전북콘크리트조합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하나스톤 · 옥천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3017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42개사. 주력은 대형 옹벽블록(W1000, 4.1~5.1만원)과 대형 식생블록(3.2~3.7만원). 5% 점유(4.4억)면 상위 8위권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324612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보차도블록 · 전북 65.4억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444752"/>
          <a:ext cx="2651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02920"/>
                <a:gridCol w="457200"/>
                <a:gridCol w="4572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로드텍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엔씨원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신흥콘크리트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강남기업사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3246120" y="3017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 3사 과점. 6개군 24.8억은 원거리 공급 + 경기 업체 4.9억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배수로 · 6개군 46.1억</a:t>
            </a:r>
            <a:endParaRPr lang="en-US" sz="11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444752"/>
          <a:ext cx="2651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02920"/>
                <a:gridCol w="457200"/>
                <a:gridCol w="4572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정읍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동서산업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고창레미콘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태산산업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고창기업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6035040" y="3017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고창 3사·부안 3사 밀집 → 운반비 우위 없음. 측구수로관은 민간·혼적용 보조 품목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D6E4E1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순서  </a:t>
            </a:r>
            <a:pPr indent="0" marL="0">
              <a:buNone/>
            </a:pPr>
            <a:r>
              <a:rPr lang="en-US" sz="10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맨홀·집수정 (현지 공백)  →  ② 인터로킹 (현지 생산자 0)  →  ③ 옹벽·식생블록 (최대 시장, 5~10% 점유 목표)  →  ④ 배수로·측구 (보조)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나라장터 2025 납품요구 내역. 점유율은 해당 범위 총액 대비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고창인가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자료로 확인된 여섯 가지 이유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C04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소재 요건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관급 465억의 92~98%가 도내 업체 → 전북 이전 없이는 관급 0원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371600"/>
            <a:ext cx="384048" cy="384048"/>
          </a:xfrm>
          <a:prstGeom prst="ellipse">
            <a:avLst/>
          </a:prstGeom>
          <a:solidFill>
            <a:srgbClr val="C04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맨홀 현지 공백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6개군 맨홀 19.2억 중 63%가 50km 밖에서 공급 → 운반비 우위로 대체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71600"/>
            <a:ext cx="384048" cy="384048"/>
          </a:xfrm>
          <a:prstGeom prst="ellipse">
            <a:avLst/>
          </a:prstGeom>
          <a:solidFill>
            <a:srgbClr val="C04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인터로킹 생산자 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서해안 축(고창·부안·정읍)에 생산자 없음, 경기 업체가 4.9억 납품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1D5C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2971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 40km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4472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거래처(광주·나주·담양·화순)와 직원 유지, 통근 가능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78892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2971800"/>
            <a:ext cx="384048" cy="384048"/>
          </a:xfrm>
          <a:prstGeom prst="ellipse">
            <a:avLst/>
          </a:prstGeom>
          <a:solidFill>
            <a:srgbClr val="1D5C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290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2971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서해안고속도로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429000" y="34472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정읍·부안·김제(배수로 최대 39억)·영광·함평 커버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278892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2971800"/>
            <a:ext cx="384048" cy="384048"/>
          </a:xfrm>
          <a:prstGeom prst="ellipse">
            <a:avLst/>
          </a:prstGeom>
          <a:solidFill>
            <a:srgbClr val="1D5C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2971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면적 확보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34472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 대비 낮은 토지 단가 → 재고생산에 필요한 양생·야적 면적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신공장 개요와 생산능력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품목, 이론 능력 연 약 80억 → 계획 매출 46억은 가동률 57%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고창군 [확인] 읍·면 · 산단/개별입지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[확인]㎡, 매입 6억 (또는 산단 임대용지)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생산동·증기양생장·야적장·시험실·사무동, 20억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배처·성형라인·몰드·양생·호이스트 일괄 42억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3명 → 2028년 [확인]명 (생산책임자·품질 포함)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2028년 1월, 본점 이전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188720"/>
          <a:ext cx="42976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640080"/>
                <a:gridCol w="12801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현재/일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신공장/일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블록 라인 (택일)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인터로킹블록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25,000장 (약 500㎡)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보강토옹벽블록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4,000장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식생블록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라인 (동시)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원형맨홀 1호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사각집수정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자중식 옹벽블록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32EA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32EA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측구수로관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30EA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389120" y="3749040"/>
            <a:ext cx="4297680" cy="731520"/>
          </a:xfrm>
          <a:prstGeom prst="roundRect">
            <a:avLst>
              <a:gd name="adj" fmla="val 7500"/>
            </a:avLst>
          </a:prstGeom>
          <a:solidFill>
            <a:srgbClr val="D6E4E1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0" y="3767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심사역에게는 </a:t>
            </a:r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"80% 가동"</a:t>
            </a:r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대신 </a:t>
            </a:r>
            <a:pPr indent="0" marL="0">
              <a:buNone/>
            </a:pPr>
            <a:r>
              <a:rPr lang="en-US" sz="9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"시장 점유율로 잡은 매출이 가동률 57%"</a:t>
            </a:r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설명. 능력은 병목이 아님을 보여주는 숫자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자중식 옹벽블록이 신공장에서도 32EA인데 6개군 최대 시장(옹벽·호안 87.4억)의 주력이 대형 옹벽블록 → 라인 증설 검토 </a:t>
            </a:r>
            <a:pPr indent="0" marL="0">
              <a:buNone/>
            </a:pPr>
            <a:r>
              <a:rPr lang="en-US" sz="90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[확인]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품목별 목표 시장과 판매 경로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2031년 46억 = 관급 24억 + 민간 22억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80160"/>
                <a:gridCol w="3749040"/>
                <a:gridCol w="2743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2031 목표(억)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맨홀 · 집수정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6개군 관급 19.2억의 63%가 원거리 공급, 현지 공백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관급 6.5 (점유 34%) + 민간 3.5 = 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인터로킹블록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서남권 생산자 0, 6개군 관급 24.8억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관급 6 (24%) + 인접 3 + 민간 4 = 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옹벽 · 식생블록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6개군 관급 87.4억(최대), 상위 1사 21%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관급 9 (10%) + 민간 4 = 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배수로 · 측구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6개군 46.1억이나 현지 7개사 밀집 → 보조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관급 2 (4%) + 민간 2 = 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광주권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수로관·기초·옹벽, 현 거래처 유지·확대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5C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관급 24억 = 6개군 177.5억의 13.5%  ·  민간 22억 = 영업권역 198억의 11%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5C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6118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D6E4E1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관급 MAS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9319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직접생산확인 → KS → 단체표준 → 나라장터 MAS 등록 → 2028 납품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36118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79192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건설사 직납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679192" y="39319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착공 전 현장 파악, 낙찰 직후 접촉 (기존 방식)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26864" y="36118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64024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대리점·자재상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764024" y="39319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고창·정읍·부안 토목자재상 개척, 남의 발을 쓴다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711696" y="36118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48856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848856" y="39319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스마트스토어·블로그, 민간 소량·시공 사례 축적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계획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첫해 15억, 4년차 46억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4300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43000"/>
          <a:ext cx="2468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57200"/>
                <a:gridCol w="457200"/>
                <a:gridCol w="457200"/>
                <a:gridCol w="5486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가동률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 공장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5C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217920" y="29260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2028: 맨홀·인터로킹 관급 개시, 기존 거래처 이관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2029: 옹벽·식생블록 관급 추가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2031 관급 24억 = 6개군 13.5%. 정읍 1개사가 블록에서 21%를 가져가는 시장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가동률은 이론 능력 80억 대비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소요자금과 조달 계획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68억 · 자기자금 9억 · 차입 59억 → 보조금·임대로 48억까지 축소가 목표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23774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소요자금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금액(억)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고창군 [확인]㎡ (산단 임대 시 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생산동·양생장·야적장·시험실·사무동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기계설비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배처플랜트·성형라인·몰드·양생·호이스트 일괄 (분할 불가)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5C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 포함 여부 [확인] · 초기 운전자금 별도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조달 (기본안)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금액(억)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자기자금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중진공 창업기업지원자금 (시설)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45~50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66~74%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지자체 보조금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 시설자금 · 보증부 · 설비리스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9~14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5C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차입을 줄이는 지렛대 4가지 (자기자금 9억은 그대로)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52044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지방투자촉진보조금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신·증설 유형, 설비투자 일정 비율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542032" y="352044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679192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고창군 조례 보조금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679192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기업유치·고용 보조금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26864" y="352044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64024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산단 임대용지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764024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 6억 → 임대료, 차입 6억 감소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711696" y="352044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48856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성형라인 리스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848856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중진공 차입 감소, 상환 분산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 손익과 상환 계획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영업이익률 15% 가정 · 금리 3.5% · 4년 거치 6년 분할 · 감가상각 연 4.7억 포함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1097280"/>
                <a:gridCol w="868680"/>
                <a:gridCol w="914400"/>
                <a:gridCol w="1463040"/>
                <a:gridCol w="1371600"/>
                <a:gridCol w="1234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영업이익(15%)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감가상각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상환 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원리금 (차입 59억)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원리금 (차입 48억)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여유 59 / 48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 (이자)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 / 5.3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6.7 / 7.1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 / 8.7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11.9 (원금 시작)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4D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−0.3 / 1.9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 / 2.5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억원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0DFD4"/>
          </a:solidFill>
          <a:ln w="12700">
            <a:solidFill>
              <a:srgbClr val="F0DF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차입 59억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7673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2031년 상환 재원이 0.3억 부족. 거치기간 3년 여유분(약 20억) 적립으로 메울 수 있으나 '빠듯하다'는 평가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342900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D6E4E1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차입 48억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37673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2억 안팎 여유. 보조금·토지 임대가 성사되면 이 구조가 목표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342900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이익률 15%의 근거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37673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계획서 19%(현 구조) − 신공장 고정비 증가분. 2025년 결산 원가율로 확정 [확인]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일정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4분기 신청 → 2027년 건축·인증 → 2028년 1분기 가동·MAS 등록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1325880"/>
            <a:ext cx="0" cy="3063240"/>
          </a:xfrm>
          <a:prstGeom prst="line">
            <a:avLst/>
          </a:prstGeom>
          <a:noFill/>
          <a:ln w="25400">
            <a:solidFill>
              <a:srgbClr val="CBD3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7592" y="1280160"/>
            <a:ext cx="219456" cy="219456"/>
          </a:xfrm>
          <a:prstGeom prst="ellipse">
            <a:avLst/>
          </a:prstGeom>
          <a:solidFill>
            <a:srgbClr val="1D5C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188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2026.09~10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사전상담 · 부지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1887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중진공 사전상담, 고창군 공장설립 사전검토·보조금·산단 문의, 토지 (가)계약, 설비 견적 3사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07592" y="1828800"/>
            <a:ext cx="219456" cy="219456"/>
          </a:xfrm>
          <a:prstGeom prst="ellipse">
            <a:avLst/>
          </a:prstGeom>
          <a:solidFill>
            <a:srgbClr val="1D5C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737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2026.11~12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· 평가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17373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정책자금 신청, 기업진단·현장평가, 건축 설계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307592" y="2377440"/>
            <a:ext cx="219456" cy="219456"/>
          </a:xfrm>
          <a:prstGeom prst="ellipse">
            <a:avLst/>
          </a:prstGeom>
          <a:solidFill>
            <a:srgbClr val="1D5C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286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2027.01~03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· 인허가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2286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 승인, 토지 잔금(또는 임대), 공장설립 승인·건축허가, 비산먼지·소음·폐수 신고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07592" y="2926080"/>
            <a:ext cx="219456" cy="219456"/>
          </a:xfrm>
          <a:prstGeom prst="ellipse">
            <a:avLst/>
          </a:prstGeom>
          <a:solidFill>
            <a:srgbClr val="1D5C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8346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2027.04~10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2834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 · 설비 발주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2834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건축, 설비 발주(납기 4~6개월), 직접생산확인·단체표준 준비, 조합 가입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307592" y="3474720"/>
            <a:ext cx="219456" cy="219456"/>
          </a:xfrm>
          <a:prstGeom prst="ellipse">
            <a:avLst/>
          </a:prstGeom>
          <a:solidFill>
            <a:srgbClr val="C04D1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383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2027.11~12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3383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· KS 심사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33832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설치·시운전, 형틀 111EA 이관, KS 공장심사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307592" y="4023360"/>
            <a:ext cx="219456" cy="219456"/>
          </a:xfrm>
          <a:prstGeom prst="ellipse">
            <a:avLst/>
          </a:prstGeom>
          <a:solidFill>
            <a:srgbClr val="C04D1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931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2028.01~03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69164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· MAS 등록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291840" y="3931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본격 가동, 본점 이전, 나라장터 MAS 등록 → 관급 납품 개시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 등록은 KS 취득 후 심사 기간이 별도 → 2028년 1분기 관급 매출은 보수적으로 5억만 반영. 등록 소요 기간 </a:t>
            </a:r>
            <a:pPr indent="0" marL="0">
              <a:buNone/>
            </a:pPr>
            <a:r>
              <a:rPr lang="en-US" sz="90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[확인]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조직·고용 계획과 위험 대응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약점 '인력 채용 부실'에 자가 공장·정규 채용·지역 인력으로 답한다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749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48640"/>
                <a:gridCol w="594360"/>
                <a:gridCol w="5943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(경영·품질 총괄·영업)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 (블록라인·몰드·양생)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품질·시험 (KS·MAS 담당)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영업·관리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15468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책임자 1명 채용(2027.3Q)이 가동의 전제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고창 지역 채용 + 광주 통근권, 자동화 블록 라인으로 인원 최소화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협력: 시험기관(KCL·KTR), 원자재 공급사, 설비사 A/S, 물류사, 전북콘크리트공업협동조합, 고창·정읍·부안 자재상</a:t>
            </a:r>
            <a:endParaRPr lang="en-US" sz="9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KS·MAS 등록 지연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설계부터 KS 기준 반영, 대표 자격 보유, 2028 관급 5억으로 보수 설정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관급 발주 감소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민간 198억 권역 병행, 7개 품목 혼적으로 현장당 매출 방어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공사비·설비비 상승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예비비, 견적 3사, 리스 활용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상환기 매출 미달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거치기간 여유분 적립(약 20억), 보조금·임대로 차입 축소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인력 확보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채용 + 통근권, 자동화 라인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1인 의존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7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 책임자·품질 담당 채용, 업무 매뉴얼화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· 고창 신공장 건립 사업계획 · 초안 v3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D5C57"/>
          </a:solidFill>
          <a:ln w="12700">
            <a:solidFill>
              <a:srgbClr val="1D5C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중장기 전략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계획서의 인증 로드맵을 신공장에서 실행한다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3246120"/>
          </a:xfrm>
          <a:prstGeom prst="roundRect">
            <a:avLst>
              <a:gd name="adj" fmla="val 2069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등록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488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직접생산확인서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 인증 (신공장 심사)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단체표준 인증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나라장터 종합쇼핑몰 MAS 등록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3246120"/>
          </a:xfrm>
          <a:prstGeom prst="roundRect">
            <a:avLst>
              <a:gd name="adj" fmla="val 2069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5C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· 진입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1488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맨홀·인터로킹 관급 개시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 품질경영시스템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전북콘크리트공업협동조합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서남권 자재상 네트워크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3246120"/>
          </a:xfrm>
          <a:prstGeom prst="roundRect">
            <a:avLst>
              <a:gd name="adj" fmla="val 2069"/>
            </a:avLst>
          </a:prstGeom>
          <a:solidFill>
            <a:srgbClr val="F0DFD4"/>
          </a:solidFill>
          <a:ln w="12700">
            <a:solidFill>
              <a:srgbClr val="F0DF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D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2029~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· 브랜드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1488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옹벽·식생블록 관급 확대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페로니켈슬래그 배합 연구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녹색인증, 부설연구소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'친환경 콘크리트 기업' 브랜드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"5억 매출은 시장이 아니라 공장의 한계입니다.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전북에 KS 자가 공장을 지으면 관급 177억 시장의 문이 열리고,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재고생산으로 매달 놓치던 2,000만원을 잡습니다."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현담토목  ·  전북특별자치도 고창군 신공장 건립 사업계획  ·  초안 v3 (2026. 09)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고창 신공장 건립 사업계획 (초안 v3)</dc:title>
  <dc:subject>PptxGenJS Presentation</dc:subject>
  <dc:creator>주식회사 현담토목</dc:creator>
  <cp:lastModifiedBy>주식회사 현담토목</cp:lastModifiedBy>
  <cp:revision>1</cp:revision>
  <dcterms:created xsi:type="dcterms:W3CDTF">2026-09-05T09:38:31Z</dcterms:created>
  <dcterms:modified xsi:type="dcterms:W3CDTF">2026-09-05T09:38:31Z</dcterms:modified>
</cp:coreProperties>
</file>